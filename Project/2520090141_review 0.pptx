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-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33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8E7D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RESTAURANT ORDERING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0" y="64190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19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Systems Engineering and Distributed Backend Development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A19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A19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776" y="177553"/>
            <a:ext cx="12191695" cy="6858000"/>
          </a:xfrm>
          <a:prstGeom prst="rect">
            <a:avLst/>
          </a:prstGeom>
          <a:solidFill>
            <a:srgbClr val="FFF9F3"/>
          </a:solidFill>
          <a:ln w="12700">
            <a:solidFill>
              <a:srgbClr val="FFF9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" y="960120"/>
            <a:ext cx="2331720" cy="2331720"/>
          </a:xfrm>
          <a:prstGeom prst="ellipse">
            <a:avLst/>
          </a:prstGeom>
          <a:solidFill>
            <a:srgbClr val="345765">
              <a:alpha val="92000"/>
            </a:srgbClr>
          </a:solidFill>
          <a:ln w="12700">
            <a:solidFill>
              <a:srgbClr val="55727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43000" y="1554480"/>
            <a:ext cx="1554480" cy="914400"/>
          </a:xfrm>
          <a:prstGeom prst="arc">
            <a:avLst/>
          </a:prstGeom>
          <a:solidFill>
            <a:srgbClr val="F4A261">
              <a:alpha val="0"/>
            </a:srgbClr>
          </a:solidFill>
          <a:ln w="381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234440" y="2487168"/>
            <a:ext cx="137160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920240" y="1051560"/>
            <a:ext cx="0" cy="41148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D5E0E3"/>
                </a:solidFill>
              </a:rPr>
              <a:t>DBMS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736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BB"/>
                </a:solidFill>
              </a:rPr>
              <a:t>25CS1302E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98848" y="612561"/>
            <a:ext cx="6629400" cy="258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46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Restaurant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2646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Ordering System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264653"/>
                </a:solidFill>
                <a:latin typeface="Aptos Display" pitchFamily="34" charset="0"/>
              </a:rPr>
              <a:t>Team Members: 2520090141-R.Nishanth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264653"/>
                </a:solidFill>
                <a:latin typeface="Aptos Display" pitchFamily="34" charset="0"/>
              </a:rPr>
              <a:t>2520090050- T.Shanmukha Sagar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264653"/>
                </a:solidFill>
                <a:latin typeface="Aptos Display" pitchFamily="34" charset="0"/>
              </a:rPr>
              <a:t>2520080032 – S.Gopal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23664" y="33147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6F51"/>
                </a:solidFill>
              </a:rPr>
              <a:t>Project Abstract &amp; Software Requirements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81144" y="3767328"/>
            <a:ext cx="6126480" cy="0"/>
          </a:xfrm>
          <a:prstGeom prst="line">
            <a:avLst/>
          </a:prstGeom>
          <a:noFill/>
          <a:ln w="19050">
            <a:solidFill>
              <a:srgbClr val="E8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26280" y="376732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F655F"/>
                </a:solidFill>
              </a:rPr>
              <a:t>Database Systems Engineering and Distributed Backend Development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55F"/>
                </a:solidFill>
              </a:rPr>
              <a:t>Y25 · 2026–2027 · Trimester 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26280" y="5138928"/>
            <a:ext cx="1417320" cy="347472"/>
          </a:xfrm>
          <a:prstGeom prst="roundRect">
            <a:avLst>
              <a:gd name="adj" fmla="val 3157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81144" y="5180076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DATABASE-DRIVEN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5138928"/>
            <a:ext cx="1143000" cy="347472"/>
          </a:xfrm>
          <a:prstGeom prst="roundRect">
            <a:avLst>
              <a:gd name="adj" fmla="val 3157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35624" y="5180076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60920" y="5138928"/>
            <a:ext cx="1234440" cy="347472"/>
          </a:xfrm>
          <a:prstGeom prst="roundRect">
            <a:avLst>
              <a:gd name="adj" fmla="val 31579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415784" y="5180076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MYSQL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732520" y="5138928"/>
            <a:ext cx="1143000" cy="347472"/>
          </a:xfrm>
          <a:prstGeom prst="roundRect">
            <a:avLst>
              <a:gd name="adj" fmla="val 3157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787384" y="5180076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4653"/>
                </a:solidFill>
              </a:rPr>
              <a:t>JDBC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46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Abstract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76656" y="10515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55F"/>
                </a:solidFill>
              </a:rPr>
              <a:t>A centralized, database-driven approach to restaurant ordering and management.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694944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0120" y="1892808"/>
            <a:ext cx="63550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2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designed to improve the efficiency and convenience of restaurant ordering and management.</a:t>
            </a:r>
            <a:endParaRPr lang="en-US" sz="1720" dirty="0"/>
          </a:p>
          <a:p>
            <a:pPr marL="228600" indent="-228600">
              <a:buSzPct val="100000"/>
              <a:buChar char="•"/>
            </a:pPr>
            <a:r>
              <a:rPr lang="en-US" sz="172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replaces manual order taking, which can lead to incorrect orders, delays, tracking difficulty, and higher staff workload.</a:t>
            </a:r>
            <a:endParaRPr lang="en-US" sz="1720" dirty="0"/>
          </a:p>
          <a:p>
            <a:pPr marL="228600" indent="-228600">
              <a:buSzPct val="100000"/>
              <a:buChar char="•"/>
            </a:pPr>
            <a:r>
              <a:rPr lang="en-US" sz="172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can view the available menu, select food items, specify quantities, and place orders.</a:t>
            </a:r>
            <a:endParaRPr lang="en-US" sz="1720" dirty="0"/>
          </a:p>
          <a:p>
            <a:pPr marL="228600" indent="-228600">
              <a:buSzPct val="100000"/>
              <a:buChar char="•"/>
            </a:pPr>
            <a:r>
              <a:rPr lang="en-US" sz="172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 staff can manage menu items, update order status, and maintain customer, order, and billing information in a structured database.</a:t>
            </a:r>
            <a:endParaRPr lang="en-US" sz="1720" dirty="0"/>
          </a:p>
          <a:p>
            <a:pPr marL="228600" indent="-228600">
              <a:buSzPct val="100000"/>
              <a:buChar char="•"/>
            </a:pPr>
            <a:r>
              <a:rPr lang="en-US" sz="172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calculates the total bill from selected items and quantities while supporting organized and consistent data management.</a:t>
            </a:r>
            <a:endParaRPr lang="en-US" sz="1720" dirty="0"/>
          </a:p>
        </p:txBody>
      </p:sp>
      <p:sp>
        <p:nvSpPr>
          <p:cNvPr id="6" name="Shape 4"/>
          <p:cNvSpPr/>
          <p:nvPr/>
        </p:nvSpPr>
        <p:spPr>
          <a:xfrm>
            <a:off x="7909560" y="160020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E7F4F2"/>
          </a:solidFill>
          <a:ln w="12700">
            <a:solidFill>
              <a:srgbClr val="B9DD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11312" y="18653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</a:rPr>
              <a:t>Primary Goal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11312" y="2267712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2A28"/>
                </a:solidFill>
              </a:rPr>
              <a:t>Reduce manual effort, minimize ordering errors, improve order processing, and keep restaurant data organized.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09560" y="370332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CEAE5"/>
          </a:solidFill>
          <a:ln w="12700">
            <a:solidFill>
              <a:srgbClr val="F3C9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11312" y="39684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</a:rPr>
              <a:t>Data Managed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11312" y="4379976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64653"/>
                </a:solidFill>
              </a:rPr>
              <a:t>Customer • Menu • Order • Billing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11312" y="50749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F655F"/>
                </a:solidFill>
              </a:rPr>
              <a:t>Stored in related database tables for efficient retrieval and consistency.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A19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46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→ Proposed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76656" y="10515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55F"/>
                </a:solidFill>
              </a:rPr>
              <a:t>Why the Smart Restaurant Ordering System is needed.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5074920" cy="4315968"/>
          </a:xfrm>
          <a:prstGeom prst="roundRect">
            <a:avLst>
              <a:gd name="adj" fmla="val 2542"/>
            </a:avLst>
          </a:prstGeom>
          <a:solidFill>
            <a:srgbClr val="FCEAE5"/>
          </a:solidFill>
          <a:ln w="12700">
            <a:solidFill>
              <a:srgbClr val="F2C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0120" y="194767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6F51"/>
                </a:solidFill>
              </a:rPr>
              <a:t>Challenges with Manual Ordering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542032"/>
            <a:ext cx="438912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 orders can occur during manual order taking.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processing and tracking may be delayed or difficult.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workload increases when menu, customer, billing, and order status records are handled manually.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Maintaining accurate and organized records becomes harder.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07024" y="3154680"/>
            <a:ext cx="502920" cy="1005840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583680" y="1664208"/>
            <a:ext cx="4919472" cy="4315968"/>
          </a:xfrm>
          <a:prstGeom prst="roundRect">
            <a:avLst>
              <a:gd name="adj" fmla="val 2542"/>
            </a:avLst>
          </a:prstGeom>
          <a:solidFill>
            <a:srgbClr val="E7F4F2"/>
          </a:solidFill>
          <a:ln w="12700">
            <a:solidFill>
              <a:srgbClr val="B8DD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0" y="19476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9D8F"/>
                </a:solidFill>
              </a:rPr>
              <a:t>Centralized Database Solution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0" y="2542032"/>
            <a:ext cx="416052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access the available menu and place itemized orders.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 staff manage menu items and update order statuses.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Customer, menu, order, and billing data are maintained in structured tables.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calculates the bill and supports accurate, efficient data retrieval.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A19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46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Functional Scope &amp; DBMS Concepts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76656" y="10515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55F"/>
                </a:solidFill>
              </a:rPr>
              <a:t>Functions described in the abstract and the database concepts applied to support them.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3072384" cy="3246120"/>
          </a:xfrm>
          <a:prstGeom prst="roundRect">
            <a:avLst>
              <a:gd name="adj" fmla="val 2976"/>
            </a:avLst>
          </a:prstGeom>
          <a:solidFill>
            <a:srgbClr val="E7F4F2"/>
          </a:solidFill>
          <a:ln w="12700">
            <a:solidFill>
              <a:srgbClr val="B8DD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" y="1719072"/>
            <a:ext cx="3072384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41832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</a:rPr>
              <a:t>Customer &amp; Ordering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41832" y="2670048"/>
            <a:ext cx="2569464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available menu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food items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Specify quantities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orders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096512" y="1719072"/>
            <a:ext cx="3072384" cy="3246120"/>
          </a:xfrm>
          <a:prstGeom prst="roundRect">
            <a:avLst>
              <a:gd name="adj" fmla="val 2976"/>
            </a:avLst>
          </a:prstGeom>
          <a:solidFill>
            <a:srgbClr val="FCEAE5"/>
          </a:solidFill>
          <a:ln w="12700">
            <a:solidFill>
              <a:srgbClr val="F2C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096512" y="1719072"/>
            <a:ext cx="3072384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352544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</a:rPr>
              <a:t>Restaurant Operations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352544" y="2670048"/>
            <a:ext cx="2569464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menu items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order status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customer orders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total bill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507224" y="1719072"/>
            <a:ext cx="3072384" cy="3246120"/>
          </a:xfrm>
          <a:prstGeom prst="roundRect">
            <a:avLst>
              <a:gd name="adj" fmla="val 2976"/>
            </a:avLst>
          </a:prstGeom>
          <a:solidFill>
            <a:srgbClr val="E8EEF0"/>
          </a:solidFill>
          <a:ln w="12700">
            <a:solidFill>
              <a:srgbClr val="C7D4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507224" y="1719072"/>
            <a:ext cx="3072384" cy="109728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63256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64653"/>
                </a:solidFill>
              </a:rPr>
              <a:t>Database Foundation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763256" y="2670048"/>
            <a:ext cx="2569464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 &amp; relationships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&amp; foreign keys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queries &amp; joins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B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Constraints &amp; transactions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85800" y="5266944"/>
            <a:ext cx="989380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50976" y="54681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</a:rPr>
              <a:t>Outcome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5422392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B2A28"/>
                </a:solidFill>
              </a:rPr>
              <a:t>Data consistency, efficient retrieval, reduced manual effort, fewer ordering errors, and more organized restaurant data management.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A19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46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Requirements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76656" y="10515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55F"/>
                </a:solidFill>
              </a:rPr>
              <a:t>Frameworks, platforms, and tools specified in the project abstract form.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065276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86384" y="1609344"/>
            <a:ext cx="10634472" cy="59436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1560" y="1783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Requirement Area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78308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Technology / Tool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3774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264653"/>
                </a:solidFill>
              </a:rPr>
              <a:t>Frontend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B2A28"/>
                </a:solidFill>
              </a:rPr>
              <a:t>HTML, CSS, JavaScript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868680" y="2816352"/>
            <a:ext cx="10469880" cy="0"/>
          </a:xfrm>
          <a:prstGeom prst="line">
            <a:avLst/>
          </a:prstGeom>
          <a:noFill/>
          <a:ln w="8890">
            <a:solidFill>
              <a:srgbClr val="E8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2816352"/>
            <a:ext cx="10616184" cy="612648"/>
          </a:xfrm>
          <a:prstGeom prst="rect">
            <a:avLst/>
          </a:prstGeom>
          <a:solidFill>
            <a:srgbClr val="FBF5F0"/>
          </a:solidFill>
          <a:ln w="12700">
            <a:solidFill>
              <a:srgbClr val="FBF5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51560" y="29900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264653"/>
                </a:solidFill>
              </a:rPr>
              <a:t>Backend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4572000" y="299008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B2A28"/>
                </a:solidFill>
              </a:rPr>
              <a:t>Java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868680" y="3429000"/>
            <a:ext cx="10469880" cy="0"/>
          </a:xfrm>
          <a:prstGeom prst="line">
            <a:avLst/>
          </a:prstGeom>
          <a:noFill/>
          <a:ln w="8890">
            <a:solidFill>
              <a:srgbClr val="E8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51560" y="360273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264653"/>
                </a:solidFill>
              </a:rPr>
              <a:t>Database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4572000" y="360273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B2A28"/>
                </a:solidFill>
              </a:rPr>
              <a:t>MySQL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868680" y="4041648"/>
            <a:ext cx="10469880" cy="0"/>
          </a:xfrm>
          <a:prstGeom prst="line">
            <a:avLst/>
          </a:prstGeom>
          <a:noFill/>
          <a:ln w="8890">
            <a:solidFill>
              <a:srgbClr val="E8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95528" y="4041648"/>
            <a:ext cx="10616184" cy="612648"/>
          </a:xfrm>
          <a:prstGeom prst="rect">
            <a:avLst/>
          </a:prstGeom>
          <a:solidFill>
            <a:srgbClr val="FBF5F0"/>
          </a:solidFill>
          <a:ln w="12700">
            <a:solidFill>
              <a:srgbClr val="FBF5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51560" y="42153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264653"/>
                </a:solidFill>
              </a:rPr>
              <a:t>Database Connectivity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4572000" y="421538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B2A28"/>
                </a:solidFill>
              </a:rPr>
              <a:t>JDBC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868680" y="4654296"/>
            <a:ext cx="10469880" cy="0"/>
          </a:xfrm>
          <a:prstGeom prst="line">
            <a:avLst/>
          </a:prstGeom>
          <a:noFill/>
          <a:ln w="8890">
            <a:solidFill>
              <a:srgbClr val="E8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51560" y="48280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264653"/>
                </a:solidFill>
              </a:rPr>
              <a:t>Development Environment</a:t>
            </a:r>
            <a:endParaRPr lang="en-US" sz="1480" dirty="0"/>
          </a:p>
        </p:txBody>
      </p:sp>
      <p:sp>
        <p:nvSpPr>
          <p:cNvPr id="23" name="Text 21"/>
          <p:cNvSpPr/>
          <p:nvPr/>
        </p:nvSpPr>
        <p:spPr>
          <a:xfrm>
            <a:off x="4572000" y="482803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B2A28"/>
                </a:solidFill>
              </a:rPr>
              <a:t>Visual Studio Code / IntelliJ IDEA</a:t>
            </a:r>
            <a:endParaRPr lang="en-US" sz="1520" dirty="0"/>
          </a:p>
        </p:txBody>
      </p:sp>
      <p:sp>
        <p:nvSpPr>
          <p:cNvPr id="24" name="Shape 22"/>
          <p:cNvSpPr/>
          <p:nvPr/>
        </p:nvSpPr>
        <p:spPr>
          <a:xfrm>
            <a:off x="868680" y="5266944"/>
            <a:ext cx="10469880" cy="0"/>
          </a:xfrm>
          <a:prstGeom prst="line">
            <a:avLst/>
          </a:prstGeom>
          <a:noFill/>
          <a:ln w="8890">
            <a:solidFill>
              <a:srgbClr val="E8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95528" y="5266944"/>
            <a:ext cx="10616184" cy="612648"/>
          </a:xfrm>
          <a:prstGeom prst="rect">
            <a:avLst/>
          </a:prstGeom>
          <a:solidFill>
            <a:srgbClr val="FBF5F0"/>
          </a:solidFill>
          <a:ln w="12700">
            <a:solidFill>
              <a:srgbClr val="FBF5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51560" y="54406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264653"/>
                </a:solidFill>
              </a:rPr>
              <a:t>Database Tool</a:t>
            </a:r>
            <a:endParaRPr lang="en-US" sz="1480" dirty="0"/>
          </a:p>
        </p:txBody>
      </p:sp>
      <p:sp>
        <p:nvSpPr>
          <p:cNvPr id="27" name="Text 25"/>
          <p:cNvSpPr/>
          <p:nvPr/>
        </p:nvSpPr>
        <p:spPr>
          <a:xfrm>
            <a:off x="4572000" y="54406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B2A28"/>
                </a:solidFill>
              </a:rPr>
              <a:t>MySQL Workbench</a:t>
            </a:r>
            <a:endParaRPr lang="en-US" sz="1520" dirty="0"/>
          </a:p>
        </p:txBody>
      </p:sp>
      <p:sp>
        <p:nvSpPr>
          <p:cNvPr id="28" name="Shape 26"/>
          <p:cNvSpPr/>
          <p:nvPr/>
        </p:nvSpPr>
        <p:spPr>
          <a:xfrm>
            <a:off x="914400" y="6080760"/>
            <a:ext cx="1325880" cy="347472"/>
          </a:xfrm>
          <a:prstGeom prst="roundRect">
            <a:avLst>
              <a:gd name="adj" fmla="val 3157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69264" y="6121908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HTML / CSS / JS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23160" y="6080760"/>
            <a:ext cx="914400" cy="347472"/>
          </a:xfrm>
          <a:prstGeom prst="roundRect">
            <a:avLst>
              <a:gd name="adj" fmla="val 3157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478024" y="612190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20440" y="6080760"/>
            <a:ext cx="1024128" cy="347472"/>
          </a:xfrm>
          <a:prstGeom prst="roundRect">
            <a:avLst>
              <a:gd name="adj" fmla="val 31579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575304" y="61219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MYSQL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27448" y="6080760"/>
            <a:ext cx="868680" cy="347472"/>
          </a:xfrm>
          <a:prstGeom prst="roundRect">
            <a:avLst>
              <a:gd name="adj" fmla="val 3157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82312" y="6121908"/>
            <a:ext cx="75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4653"/>
                </a:solidFill>
              </a:rPr>
              <a:t>JDBC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79008" y="6080760"/>
            <a:ext cx="1664208" cy="347472"/>
          </a:xfrm>
          <a:prstGeom prst="roundRect">
            <a:avLst>
              <a:gd name="adj" fmla="val 3157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833872" y="61219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VS CODE / INTELLIJ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26096" y="6080760"/>
            <a:ext cx="1691640" cy="347472"/>
          </a:xfrm>
          <a:prstGeom prst="roundRect">
            <a:avLst>
              <a:gd name="adj" fmla="val 31579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680960" y="6121908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MYSQL WORKBENCH</a:t>
            </a:r>
            <a:endParaRPr lang="en-US" sz="10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A19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465</Words>
  <Application>Microsoft Office PowerPoint</Application>
  <PresentationFormat>Widescreen</PresentationFormat>
  <Paragraphs>88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KLH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Restaurant Ordering System</dc:title>
  <dc:subject>Smart Restaurant Ordering System - Abstract and Software Requirements</dc:subject>
  <dc:creator>OpenAI</dc:creator>
  <cp:lastModifiedBy>Kookie 22</cp:lastModifiedBy>
  <cp:revision>2</cp:revision>
  <dcterms:created xsi:type="dcterms:W3CDTF">2026-10-01T15:09:22Z</dcterms:created>
  <dcterms:modified xsi:type="dcterms:W3CDTF">2026-10-01T15:27:20Z</dcterms:modified>
</cp:coreProperties>
</file>
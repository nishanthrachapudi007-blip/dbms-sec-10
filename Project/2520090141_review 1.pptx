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E7D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RESTAURANT ORDERING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0" y="64190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9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Systems Engineering and Distributed Backend Development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3"/>
          </a:solidFill>
          <a:ln w="12700">
            <a:solidFill>
              <a:srgbClr val="FFF9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960120"/>
            <a:ext cx="2331720" cy="2331720"/>
          </a:xfrm>
          <a:prstGeom prst="ellipse">
            <a:avLst/>
          </a:prstGeom>
          <a:solidFill>
            <a:srgbClr val="345765">
              <a:alpha val="92000"/>
            </a:srgbClr>
          </a:solidFill>
          <a:ln w="12700">
            <a:solidFill>
              <a:srgbClr val="55727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554480"/>
            <a:ext cx="1554480" cy="914400"/>
          </a:xfrm>
          <a:prstGeom prst="arc">
            <a:avLst/>
          </a:prstGeom>
          <a:solidFill>
            <a:srgbClr val="F4A261">
              <a:alpha val="0"/>
            </a:srgbClr>
          </a:solidFill>
          <a:ln w="381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487168"/>
            <a:ext cx="13716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051560"/>
            <a:ext cx="0" cy="41148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5E0E3"/>
                </a:solidFill>
              </a:rPr>
              <a:t>DBMS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736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B"/>
                </a:solidFill>
              </a:rPr>
              <a:t>25CS1302E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98848" y="1261872"/>
            <a:ext cx="6629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Restaurant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Ordering System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26280" y="290779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</a:rPr>
              <a:t>Project Abstract &amp; Software Requirements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26280" y="3520440"/>
            <a:ext cx="6126480" cy="0"/>
          </a:xfrm>
          <a:prstGeom prst="line">
            <a:avLst/>
          </a:prstGeom>
          <a:noFill/>
          <a:ln w="19050">
            <a:solidFill>
              <a:srgbClr val="E8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76732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F655F"/>
                </a:solidFill>
              </a:rPr>
              <a:t>Database Systems Engineering and Distributed Backend Development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55F"/>
                </a:solidFill>
              </a:rPr>
              <a:t>Y25 · 2026–2027 · Trimester 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5138928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518007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DATABASE-DRIVEN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5138928"/>
            <a:ext cx="1143000" cy="347472"/>
          </a:xfrm>
          <a:prstGeom prst="roundRect">
            <a:avLst>
              <a:gd name="adj" fmla="val 3157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5180076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5138928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784" y="5180076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32520" y="5138928"/>
            <a:ext cx="1143000" cy="347472"/>
          </a:xfrm>
          <a:prstGeom prst="roundRect">
            <a:avLst>
              <a:gd name="adj" fmla="val 3157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87384" y="5180076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</a:rPr>
              <a:t>JDBC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Abstract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051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55F"/>
                </a:solidFill>
              </a:rPr>
              <a:t>A centralized, database-driven approach to restaurant ordering and management.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694944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92808"/>
            <a:ext cx="63550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designed to improve the efficiency and convenience of restaurant ordering and management.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replaces manual order taking, which can lead to incorrect orders, delays, tracking difficulty, and higher staff workload.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can view the available menu, select food items, specify quantities, and place orders.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staff can manage menu items, update order status, and maintain customer, order, and billing information in a structured database.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calculates the total bill from selected items and quantities while supporting organized and consistent data management.</a:t>
            </a:r>
            <a:endParaRPr lang="en-US" sz="1720" dirty="0"/>
          </a:p>
        </p:txBody>
      </p:sp>
      <p:sp>
        <p:nvSpPr>
          <p:cNvPr id="6" name="Shape 4"/>
          <p:cNvSpPr/>
          <p:nvPr/>
        </p:nvSpPr>
        <p:spPr>
          <a:xfrm>
            <a:off x="7909560" y="16002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7F4F2"/>
          </a:solidFill>
          <a:ln w="12700">
            <a:solidFill>
              <a:srgbClr val="B9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11312" y="18653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Primary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11312" y="2267712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B2A28"/>
                </a:solidFill>
              </a:rPr>
              <a:t>Reduce manual effort, minimize ordering errors, improve order processing, and keep restaurant data organized.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09560" y="37033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CEAE5"/>
          </a:solidFill>
          <a:ln w="12700">
            <a:solidFill>
              <a:srgbClr val="F3C9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39684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</a:rPr>
              <a:t>Data Managed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11312" y="4379976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</a:rPr>
              <a:t>Customer • Menu • Order • Billing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11312" y="5074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F655F"/>
                </a:solidFill>
              </a:rPr>
              <a:t>Stored in related database tables for efficient retrieval and consistency.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→ 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051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55F"/>
                </a:solidFill>
              </a:rPr>
              <a:t>Why the Smart Restaurant Ordering System is needed.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5074920" cy="4315968"/>
          </a:xfrm>
          <a:prstGeom prst="roundRect">
            <a:avLst>
              <a:gd name="adj" fmla="val 2542"/>
            </a:avLst>
          </a:prstGeom>
          <a:solidFill>
            <a:srgbClr val="FCEAE5"/>
          </a:solidFill>
          <a:ln w="12700">
            <a:solidFill>
              <a:srgbClr val="F2C6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476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</a:rPr>
              <a:t>Challenges with Manual Ordering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542032"/>
            <a:ext cx="43891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orders can occur during manual order taking.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processing and tracking may be delayed or difficult.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workload increases when menu, customer, billing, and order status records are handled manually.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Maintaining accurate and organized records becomes harder.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07024" y="3154680"/>
            <a:ext cx="502920" cy="1005840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664208"/>
            <a:ext cx="4919472" cy="4315968"/>
          </a:xfrm>
          <a:prstGeom prst="roundRect">
            <a:avLst>
              <a:gd name="adj" fmla="val 2542"/>
            </a:avLst>
          </a:prstGeom>
          <a:solidFill>
            <a:srgbClr val="E7F4F2"/>
          </a:solidFill>
          <a:ln w="12700">
            <a:solidFill>
              <a:srgbClr val="B8D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947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</a:rPr>
              <a:t>Centralized Database Solution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2542032"/>
            <a:ext cx="41605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access the available menu and place itemized orders.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staff manage menu items and update order statuses.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Customer, menu, order, and billing data are maintained in structured tables.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calculates the bill and supports accurate, efficient data retrieval.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Functional Scope &amp; DBMS Concepts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051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55F"/>
                </a:solidFill>
              </a:rPr>
              <a:t>Functions described in the abstract and the database concepts applied to support them.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3072384" cy="3246120"/>
          </a:xfrm>
          <a:prstGeom prst="roundRect">
            <a:avLst>
              <a:gd name="adj" fmla="val 2976"/>
            </a:avLst>
          </a:prstGeom>
          <a:solidFill>
            <a:srgbClr val="E7F4F2"/>
          </a:solidFill>
          <a:ln w="12700">
            <a:solidFill>
              <a:srgbClr val="B8D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072384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</a:rPr>
              <a:t>Customer &amp; Ordering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41832" y="2670048"/>
            <a:ext cx="25694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available menu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food items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Specify quantities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orders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096512" y="1719072"/>
            <a:ext cx="3072384" cy="3246120"/>
          </a:xfrm>
          <a:prstGeom prst="roundRect">
            <a:avLst>
              <a:gd name="adj" fmla="val 2976"/>
            </a:avLst>
          </a:prstGeom>
          <a:solidFill>
            <a:srgbClr val="FCEAE5"/>
          </a:solidFill>
          <a:ln w="12700">
            <a:solidFill>
              <a:srgbClr val="F2C6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96512" y="1719072"/>
            <a:ext cx="3072384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2544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</a:rPr>
              <a:t>Restaurant Operations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352544" y="2670048"/>
            <a:ext cx="25694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menu items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order status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customer orders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total bill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07224" y="1719072"/>
            <a:ext cx="3072384" cy="3246120"/>
          </a:xfrm>
          <a:prstGeom prst="roundRect">
            <a:avLst>
              <a:gd name="adj" fmla="val 2976"/>
            </a:avLst>
          </a:prstGeom>
          <a:solidFill>
            <a:srgbClr val="E8EEF0"/>
          </a:solidFill>
          <a:ln w="12700">
            <a:solidFill>
              <a:srgbClr val="C7D4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07224" y="1719072"/>
            <a:ext cx="3072384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3256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</a:rPr>
              <a:t>Database Foundation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63256" y="2670048"/>
            <a:ext cx="25694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&amp; relationships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&amp; foreign keys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queries &amp; joins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 &amp; transactions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85800" y="5266944"/>
            <a:ext cx="989380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468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</a:rPr>
              <a:t>Outcome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5422392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B2A28"/>
                </a:solidFill>
              </a:rPr>
              <a:t>Data consistency, efficient retrieval, reduced manual effort, fewer ordering errors, and more organized restaurant data management.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051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55F"/>
                </a:solidFill>
              </a:rPr>
              <a:t>Frameworks, platforms, and tools specified in the project abstract form.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5276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09344"/>
            <a:ext cx="10634472" cy="59436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 Area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Technology / Tool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64653"/>
                </a:solidFill>
              </a:rPr>
              <a:t>Frontend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B2A28"/>
                </a:solidFill>
              </a:rPr>
              <a:t>HTML, CSS, JavaScript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68680" y="2816352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2816352"/>
            <a:ext cx="10616184" cy="612648"/>
          </a:xfrm>
          <a:prstGeom prst="rect">
            <a:avLst/>
          </a:prstGeom>
          <a:solidFill>
            <a:srgbClr val="FBF5F0"/>
          </a:solidFill>
          <a:ln w="12700">
            <a:solidFill>
              <a:srgbClr val="FB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64653"/>
                </a:solidFill>
              </a:rPr>
              <a:t>Backend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4572000" y="299008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B2A28"/>
                </a:solidFill>
              </a:rPr>
              <a:t>Java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3429000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027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64653"/>
                </a:solidFill>
              </a:rPr>
              <a:t>Database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4572000" y="360273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B2A28"/>
                </a:solidFill>
              </a:rPr>
              <a:t>MySQL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868680" y="4041648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041648"/>
            <a:ext cx="10616184" cy="612648"/>
          </a:xfrm>
          <a:prstGeom prst="rect">
            <a:avLst/>
          </a:prstGeom>
          <a:solidFill>
            <a:srgbClr val="FBF5F0"/>
          </a:solidFill>
          <a:ln w="12700">
            <a:solidFill>
              <a:srgbClr val="FBF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153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64653"/>
                </a:solidFill>
              </a:rPr>
              <a:t>Database Connectivity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4572000" y="42153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B2A28"/>
                </a:solidFill>
              </a:rPr>
              <a:t>JDBC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868680" y="4654296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8280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64653"/>
                </a:solidFill>
              </a:rPr>
              <a:t>Development Environment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4572000" y="482803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B2A28"/>
                </a:solidFill>
              </a:rPr>
              <a:t>Visual Studio Code / IntelliJ IDEA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868680" y="5266944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5266944"/>
            <a:ext cx="10616184" cy="612648"/>
          </a:xfrm>
          <a:prstGeom prst="rect">
            <a:avLst/>
          </a:prstGeom>
          <a:solidFill>
            <a:srgbClr val="FBF5F0"/>
          </a:solidFill>
          <a:ln w="12700">
            <a:solidFill>
              <a:srgbClr val="FBF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440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64653"/>
                </a:solidFill>
              </a:rPr>
              <a:t>Database Tool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4572000" y="54406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B2A28"/>
                </a:solidFill>
              </a:rPr>
              <a:t>MySQL Workbench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914400" y="6080760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6121908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 / CSS / JS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6080760"/>
            <a:ext cx="914400" cy="347472"/>
          </a:xfrm>
          <a:prstGeom prst="roundRect">
            <a:avLst>
              <a:gd name="adj" fmla="val 3157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78024" y="612190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6080760"/>
            <a:ext cx="1024128" cy="347472"/>
          </a:xfrm>
          <a:prstGeom prst="roundRect">
            <a:avLst>
              <a:gd name="adj" fmla="val 31579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75304" y="61219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7448" y="6080760"/>
            <a:ext cx="868680" cy="347472"/>
          </a:xfrm>
          <a:prstGeom prst="roundRect">
            <a:avLst>
              <a:gd name="adj" fmla="val 3157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6121908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</a:rPr>
              <a:t>JDBC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79008" y="6080760"/>
            <a:ext cx="1664208" cy="347472"/>
          </a:xfrm>
          <a:prstGeom prst="roundRect">
            <a:avLst>
              <a:gd name="adj" fmla="val 3157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3872" y="61219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 CODE / INTELLIJ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26096" y="6080760"/>
            <a:ext cx="1691640" cy="347472"/>
          </a:xfrm>
          <a:prstGeom prst="roundRect">
            <a:avLst>
              <a:gd name="adj" fmla="val 31579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6121908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 WORKBENCH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58368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264653"/>
                </a:solidFill>
                <a:latin typeface="Aptos Display"/>
              </a:rPr>
              <a:t>Project Methodology</a:t>
            </a:r>
          </a:p>
        </p:txBody>
      </p:sp>
      <p:sp>
        <p:nvSpPr>
          <p:cNvPr id="3" name="Text 1"/>
          <p:cNvSpPr/>
          <p:nvPr/>
        </p:nvSpPr>
        <p:spPr>
          <a:xfrm>
            <a:off x="676656" y="1051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50" b="0">
                <a:solidFill>
                  <a:srgbClr val="6F655F"/>
                </a:solidFill>
                <a:latin typeface="Aptos"/>
              </a:rPr>
              <a:t>Proposed development approach for building the Smart Restaurant Ordering System.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3072384" cy="3246120"/>
          </a:xfrm>
          <a:prstGeom prst="roundRect">
            <a:avLst>
              <a:gd name="adj" fmla="val 2976"/>
            </a:avLst>
          </a:prstGeom>
          <a:solidFill>
            <a:srgbClr val="E7F4F2"/>
          </a:solidFill>
          <a:ln w="12700">
            <a:solidFill>
              <a:srgbClr val="B8DDD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719072"/>
            <a:ext cx="3072384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41832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800" b="1">
                <a:solidFill>
                  <a:srgbClr val="2A9D8F"/>
                </a:solidFill>
                <a:latin typeface="Aptos"/>
              </a:rPr>
              <a:t>1. Requirement &amp; Planning</a:t>
            </a:r>
          </a:p>
        </p:txBody>
      </p:sp>
      <p:sp>
        <p:nvSpPr>
          <p:cNvPr id="7" name="Text 5"/>
          <p:cNvSpPr/>
          <p:nvPr/>
        </p:nvSpPr>
        <p:spPr>
          <a:xfrm>
            <a:off x="941832" y="2670048"/>
            <a:ext cx="25694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520" b="0">
                <a:solidFill>
                  <a:srgbClr val="2B2A28"/>
                </a:solidFill>
                <a:latin typeface="Aptos"/>
              </a:rPr>
              <a:t>Understand customer and staff workflows</a:t>
            </a:r>
          </a:p>
          <a:p>
            <a:r>
              <a:rPr sz="1520" b="0">
                <a:solidFill>
                  <a:srgbClr val="2B2A28"/>
                </a:solidFill>
                <a:latin typeface="Aptos"/>
              </a:rPr>
              <a:t>Define menu, customer, order &amp; billing data</a:t>
            </a:r>
          </a:p>
          <a:p>
            <a:r>
              <a:rPr sz="1520" b="0">
                <a:solidFill>
                  <a:srgbClr val="2B2A28"/>
                </a:solidFill>
                <a:latin typeface="Aptos"/>
              </a:rPr>
              <a:t>List required system functions</a:t>
            </a:r>
          </a:p>
          <a:p>
            <a:r>
              <a:rPr sz="1520" b="0">
                <a:solidFill>
                  <a:srgbClr val="2B2A28"/>
                </a:solidFill>
                <a:latin typeface="Aptos"/>
              </a:rPr>
              <a:t>Plan the project modules</a:t>
            </a:r>
          </a:p>
        </p:txBody>
      </p:sp>
      <p:sp>
        <p:nvSpPr>
          <p:cNvPr id="8" name="Shape 6"/>
          <p:cNvSpPr/>
          <p:nvPr/>
        </p:nvSpPr>
        <p:spPr>
          <a:xfrm>
            <a:off x="4096512" y="1719072"/>
            <a:ext cx="3072384" cy="3246120"/>
          </a:xfrm>
          <a:prstGeom prst="roundRect">
            <a:avLst>
              <a:gd name="adj" fmla="val 2976"/>
            </a:avLst>
          </a:prstGeom>
          <a:solidFill>
            <a:srgbClr val="FCEAE5"/>
          </a:solidFill>
          <a:ln w="12700">
            <a:solidFill>
              <a:srgbClr val="F2C6B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96512" y="1719072"/>
            <a:ext cx="3072384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52544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800" b="1">
                <a:solidFill>
                  <a:srgbClr val="E76F51"/>
                </a:solidFill>
                <a:latin typeface="Aptos"/>
              </a:rPr>
              <a:t>2. Database &amp; Backend Design</a:t>
            </a:r>
          </a:p>
        </p:txBody>
      </p:sp>
      <p:sp>
        <p:nvSpPr>
          <p:cNvPr id="11" name="Text 9"/>
          <p:cNvSpPr/>
          <p:nvPr/>
        </p:nvSpPr>
        <p:spPr>
          <a:xfrm>
            <a:off x="4352544" y="2670048"/>
            <a:ext cx="25694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520" b="0">
                <a:solidFill>
                  <a:srgbClr val="2B2A28"/>
                </a:solidFill>
                <a:latin typeface="Aptos"/>
              </a:rPr>
              <a:t>Design related MySQL tables</a:t>
            </a:r>
          </a:p>
          <a:p>
            <a:r>
              <a:rPr sz="1520" b="0">
                <a:solidFill>
                  <a:srgbClr val="2B2A28"/>
                </a:solidFill>
                <a:latin typeface="Aptos"/>
              </a:rPr>
              <a:t>Set primary &amp; foreign keys</a:t>
            </a:r>
          </a:p>
          <a:p>
            <a:r>
              <a:rPr sz="1520" b="0">
                <a:solidFill>
                  <a:srgbClr val="2B2A28"/>
                </a:solidFill>
                <a:latin typeface="Aptos"/>
              </a:rPr>
              <a:t>Apply constraints, queries &amp; joins</a:t>
            </a:r>
          </a:p>
          <a:p>
            <a:r>
              <a:rPr sz="1520" b="0">
                <a:solidFill>
                  <a:srgbClr val="2B2A28"/>
                </a:solidFill>
                <a:latin typeface="Aptos"/>
              </a:rPr>
              <a:t>Develop Java logic and JDBC connectivity</a:t>
            </a:r>
          </a:p>
        </p:txBody>
      </p:sp>
      <p:sp>
        <p:nvSpPr>
          <p:cNvPr id="12" name="Shape 10"/>
          <p:cNvSpPr/>
          <p:nvPr/>
        </p:nvSpPr>
        <p:spPr>
          <a:xfrm>
            <a:off x="7507224" y="1719072"/>
            <a:ext cx="3072384" cy="3246120"/>
          </a:xfrm>
          <a:prstGeom prst="roundRect">
            <a:avLst>
              <a:gd name="adj" fmla="val 2976"/>
            </a:avLst>
          </a:prstGeom>
          <a:solidFill>
            <a:srgbClr val="E8EEF0"/>
          </a:solidFill>
          <a:ln w="12700">
            <a:solidFill>
              <a:srgbClr val="C7D4D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507224" y="1719072"/>
            <a:ext cx="3072384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63256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650" b="1">
                <a:solidFill>
                  <a:srgbClr val="264653"/>
                </a:solidFill>
                <a:latin typeface="Aptos"/>
              </a:rPr>
              <a:t>3. Interface, Testing &amp; Integration</a:t>
            </a:r>
          </a:p>
        </p:txBody>
      </p:sp>
      <p:sp>
        <p:nvSpPr>
          <p:cNvPr id="15" name="Text 13"/>
          <p:cNvSpPr/>
          <p:nvPr/>
        </p:nvSpPr>
        <p:spPr>
          <a:xfrm>
            <a:off x="7763256" y="2670048"/>
            <a:ext cx="25694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520">
                <a:solidFill>
                  <a:srgbClr val="2B2A28"/>
                </a:solidFill>
                <a:latin typeface="Aptos"/>
              </a:rPr>
              <a:t>Build the HTML/CSS/JavaScript interface</a:t>
            </a:r>
          </a:p>
          <a:p>
            <a:r>
              <a:rPr sz="1520">
                <a:solidFill>
                  <a:srgbClr val="2B2A28"/>
                </a:solidFill>
                <a:latin typeface="Aptos"/>
              </a:rPr>
              <a:t>Connect UI → Java → MySQL</a:t>
            </a:r>
          </a:p>
          <a:p>
            <a:r>
              <a:rPr sz="1520">
                <a:solidFill>
                  <a:srgbClr val="2B2A28"/>
                </a:solidFill>
                <a:latin typeface="Aptos"/>
              </a:rPr>
              <a:t>Test ordering, billing &amp; status updates</a:t>
            </a:r>
          </a:p>
          <a:p>
            <a:r>
              <a:rPr sz="1520">
                <a:solidFill>
                  <a:srgbClr val="2B2A28"/>
                </a:solidFill>
                <a:latin typeface="Aptos"/>
              </a:rPr>
              <a:t>Check data consistency and error handling</a:t>
            </a:r>
          </a:p>
        </p:txBody>
      </p:sp>
      <p:sp>
        <p:nvSpPr>
          <p:cNvPr id="16" name="Shape 14"/>
          <p:cNvSpPr/>
          <p:nvPr/>
        </p:nvSpPr>
        <p:spPr>
          <a:xfrm>
            <a:off x="685800" y="5266944"/>
            <a:ext cx="989380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0976" y="5468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 b="1">
                <a:solidFill>
                  <a:srgbClr val="E76F51"/>
                </a:solidFill>
                <a:latin typeface="Aptos"/>
              </a:rPr>
              <a:t>Result</a:t>
            </a:r>
          </a:p>
        </p:txBody>
      </p:sp>
      <p:sp>
        <p:nvSpPr>
          <p:cNvPr id="18" name="Text 16"/>
          <p:cNvSpPr/>
          <p:nvPr/>
        </p:nvSpPr>
        <p:spPr>
          <a:xfrm>
            <a:off x="1828800" y="5422392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50">
                <a:solidFill>
                  <a:srgbClr val="2B2A28"/>
                </a:solidFill>
                <a:latin typeface="Aptos"/>
              </a:rPr>
              <a:t>Integrated prototype flow: Menu → Order → Billing → Order Status, supported by a structured MySQL database.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rPr sz="1000" b="0">
                <a:solidFill>
                  <a:srgbClr val="6F655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KLH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Restaurant Ordering System</dc:title>
  <dc:subject>Smart Restaurant Ordering System - Abstract and Software Requirements</dc:subject>
  <dc:creator>OpenAI</dc:creator>
  <cp:lastModifiedBy>OpenAI</cp:lastModifiedBy>
  <cp:revision>1</cp:revision>
  <dcterms:created xsi:type="dcterms:W3CDTF">2026-10-01T15:09:22Z</dcterms:created>
  <dcterms:modified xsi:type="dcterms:W3CDTF">2026-10-01T15:09:22Z</dcterms:modified>
</cp:coreProperties>
</file>